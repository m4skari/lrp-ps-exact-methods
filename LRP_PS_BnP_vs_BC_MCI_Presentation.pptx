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371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Location-Routing Problem with Pick-up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06040"/>
            <a:ext cx="10241280" cy="64008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000" b="0">
                <a:solidFill>
                  <a:srgbClr val="D2E4EE"/>
                </a:solidFill>
                <a:latin typeface="Aptos"/>
              </a:defRPr>
            </a:pPr>
            <a:r>
              <a:t>Mathematical Model, Branch-and-Price, and Branch-and-Cut with Minimal Cover Inequalities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9601200" cy="3200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Based on Wang, Zhang, Bell, and Miao (EJOR 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9601200" cy="3200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Computational implementation and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10424160" cy="475488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Problem definition: delivery options, cost components, and assumptions.</a:t>
            </a:r>
          </a:p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Compact mathematical formulation: objective function and all constraint groups.</a:t>
            </a:r>
          </a:p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Paper decomposition: set-partitioning master, feasible columns, and pricing subproblems.</a:t>
            </a:r>
          </a:p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Solution algorithms: paper Branch-and-Price and Branch-and-Cut with MCI.</a:t>
            </a:r>
          </a:p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Data generation and experimental considerations.</a:t>
            </a:r>
          </a:p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Comparison of objective values, runtimes, MCI counts, and service shares.</a:t>
            </a:r>
          </a:p>
          <a:p>
            <a:pPr>
              <a:spcAft>
                <a:spcPts val="700"/>
              </a:spcAft>
              <a:defRPr sz="2100">
                <a:solidFill>
                  <a:srgbClr val="232A32"/>
                </a:solidFill>
                <a:latin typeface="Aptos"/>
              </a:defRPr>
            </a:pPr>
            <a:r>
              <a:t>Code availability and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Problem Statement: LRP-PS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7" name="Picture 6" descr="cluster_corner_n12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1174"/>
            <a:ext cx="5394960" cy="46242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0058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73152" cy="109728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115568"/>
            <a:ext cx="493776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008496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508760"/>
            <a:ext cx="4937760" cy="502919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Depot 0, customer set Vc, and candidate pick-up station set Vl.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3172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31720"/>
            <a:ext cx="73152" cy="1234440"/>
          </a:xfrm>
          <a:prstGeom prst="rect">
            <a:avLst/>
          </a:prstGeom>
          <a:solidFill>
            <a:srgbClr val="E27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441448"/>
            <a:ext cx="493776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E27C2D"/>
                </a:solidFill>
                <a:latin typeface="Aptos"/>
              </a:defRPr>
            </a:pPr>
            <a:r>
              <a:t>Delivery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834639"/>
            <a:ext cx="4937760" cy="64008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Every customer demand is satisfied exactly once: either by one opened station or by a small green vehicle route.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73152" cy="1417320"/>
          </a:xfrm>
          <a:prstGeom prst="rect">
            <a:avLst/>
          </a:prstGeom>
          <a:solidFill>
            <a:srgbClr val="36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904488"/>
            <a:ext cx="493776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3667A5"/>
                </a:solidFill>
                <a:latin typeface="Aptos"/>
              </a:defRPr>
            </a:pPr>
            <a:r>
              <a:t>Large GV assumption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297680"/>
            <a:ext cx="4937760" cy="82296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Large green vehicles do not visit customer demand points. They only replenish opened stations, represented by the effective fixed station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577840"/>
            <a:ext cx="5029200" cy="36576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400" b="1">
                <a:solidFill>
                  <a:srgbClr val="BC4646"/>
                </a:solidFill>
                <a:latin typeface="Aptos"/>
              </a:defRPr>
            </a:pPr>
            <a:r>
              <a:t>Separate strategy: facility service and direct customer routing are modeled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73152" cy="475488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15568"/>
            <a:ext cx="320040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008496"/>
                </a:solidFill>
                <a:latin typeface="Aptos"/>
              </a:defRPr>
            </a:pPr>
            <a:r>
              <a:t>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08760"/>
            <a:ext cx="3200400" cy="416052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0: depot</a:t>
            </a:r>
            <a:br/>
            <a:r>
              <a:t>Vc: customers</a:t>
            </a:r>
            <a:br/>
            <a:r>
              <a:t>Vl: candidate pick-up stations</a:t>
            </a:r>
            <a:br/>
            <a:r>
              <a:t>A: small-GV arcs among depot and customers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0584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005840"/>
            <a:ext cx="73152" cy="4754880"/>
          </a:xfrm>
          <a:prstGeom prst="rect">
            <a:avLst/>
          </a:prstGeom>
          <a:solidFill>
            <a:srgbClr val="E27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115568"/>
            <a:ext cx="320040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E27C2D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508760"/>
            <a:ext cx="3200400" cy="416052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q_i: customer demand</a:t>
            </a:r>
            <a:br/>
            <a:r>
              <a:t>Q_l: station capacity</a:t>
            </a:r>
            <a:br/>
            <a:r>
              <a:t>Q_e: small-GV capacity</a:t>
            </a:r>
            <a:br/>
            <a:r>
              <a:t>B: battery range</a:t>
            </a:r>
            <a:br/>
            <a:r>
              <a:t>r_l: station coverage radius</a:t>
            </a:r>
            <a:br/>
            <a:r>
              <a:t>c_ij: travel cost</a:t>
            </a:r>
            <a:br/>
            <a:r>
              <a:t>f_l, a_l: station opening/handling costs</a:t>
            </a:r>
            <a:br/>
            <a:r>
              <a:t>phi: large-GV route saving factor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005840"/>
            <a:ext cx="3474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005840"/>
            <a:ext cx="73152" cy="4754880"/>
          </a:xfrm>
          <a:prstGeom prst="rect">
            <a:avLst/>
          </a:prstGeom>
          <a:solidFill>
            <a:srgbClr val="36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115568"/>
            <a:ext cx="320040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3667A5"/>
                </a:solidFill>
                <a:latin typeface="Aptos"/>
              </a:defRPr>
            </a:pPr>
            <a:r>
              <a:t>Decision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508760"/>
            <a:ext cx="3200400" cy="416052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v_l: station opened</a:t>
            </a:r>
            <a:br/>
            <a:r>
              <a:t>z_il: customer i assigned to station l</a:t>
            </a:r>
            <a:br/>
            <a:r>
              <a:t>w_i: customer i served by small GV</a:t>
            </a:r>
            <a:br/>
            <a:r>
              <a:t>x_ij: small GV traverses arc (i,j)</a:t>
            </a:r>
            <a:br/>
            <a:r>
              <a:t>f_ij: load flow</a:t>
            </a:r>
            <a:br/>
            <a:r>
              <a:t>b_i: remaining battery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Objective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 descr="eq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21" y="1024128"/>
            <a:ext cx="10297317" cy="868680"/>
          </a:xfrm>
          <a:prstGeom prst="rect">
            <a:avLst/>
          </a:prstGeom>
        </p:spPr>
      </p:pic>
      <p:pic>
        <p:nvPicPr>
          <p:cNvPr id="8" name="Picture 7" descr="eq_station_fixed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158" y="1993392"/>
            <a:ext cx="7277762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971800"/>
            <a:ext cx="10424160" cy="24231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first term opens and replenishes pick-up stations.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second term charges handling cost for packages assigned to stations.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third term charges the fixed cost of each used small GV.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fourth term charges the travel cost of small-GV customer routes.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Large-GV travel saving is modeled by phi; if phi = 0.1, only 10% of the station round trip is charged to LRP-PS.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Assignment and Facility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212080" cy="5486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800" b="1">
                <a:solidFill>
                  <a:srgbClr val="008496"/>
                </a:solidFill>
                <a:latin typeface="Aptos"/>
              </a:defRPr>
            </a:pPr>
            <a:r>
              <a:t>(2) Exactly one delivery mode</a:t>
            </a:r>
          </a:p>
        </p:txBody>
      </p:sp>
      <p:pic>
        <p:nvPicPr>
          <p:cNvPr id="8" name="Picture 7" descr="eq_assign_one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1508760"/>
            <a:ext cx="438912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514600"/>
            <a:ext cx="5212080" cy="5486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800" b="1">
                <a:solidFill>
                  <a:srgbClr val="E27C2D"/>
                </a:solidFill>
                <a:latin typeface="Aptos"/>
              </a:defRPr>
            </a:pPr>
            <a:r>
              <a:t>(3) Coverage and station opening</a:t>
            </a:r>
          </a:p>
        </p:txBody>
      </p:sp>
      <p:pic>
        <p:nvPicPr>
          <p:cNvPr id="10" name="Picture 9" descr="eq_coverage_op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74" y="2971800"/>
            <a:ext cx="4477491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1005840"/>
            <a:ext cx="4937760" cy="5486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800" b="1">
                <a:solidFill>
                  <a:srgbClr val="3667A5"/>
                </a:solidFill>
                <a:latin typeface="Aptos"/>
              </a:defRPr>
            </a:pPr>
            <a:r>
              <a:t>(4) Station capacity</a:t>
            </a:r>
          </a:p>
        </p:txBody>
      </p:sp>
      <p:pic>
        <p:nvPicPr>
          <p:cNvPr id="12" name="Picture 11" descr="eq_station_capa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286" y="1508760"/>
            <a:ext cx="4418187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2560320"/>
            <a:ext cx="5029200" cy="246888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If v_l = 0, no customer can be assigned to station l.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A station can serve only customers inside its coverage radius.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Total assigned demand cannot exceed station accommodation capacity.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These constraints are the source of minimal cover inequalities.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Small-GV Routing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700" b="1">
                <a:solidFill>
                  <a:srgbClr val="008496"/>
                </a:solidFill>
                <a:latin typeface="Aptos"/>
              </a:defRPr>
            </a:pPr>
            <a:r>
              <a:t>Depot balance and fleet limit</a:t>
            </a:r>
          </a:p>
        </p:txBody>
      </p:sp>
      <p:pic>
        <p:nvPicPr>
          <p:cNvPr id="8" name="Picture 7" descr="eq_depot_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43" y="1417320"/>
            <a:ext cx="4814233" cy="621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9601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700" b="1">
                <a:solidFill>
                  <a:srgbClr val="E27C2D"/>
                </a:solidFill>
                <a:latin typeface="Aptos"/>
              </a:defRPr>
            </a:pPr>
            <a:r>
              <a:t>Customer flow conservation</a:t>
            </a:r>
          </a:p>
        </p:txBody>
      </p:sp>
      <p:pic>
        <p:nvPicPr>
          <p:cNvPr id="10" name="Picture 9" descr="eq_custome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417" y="1417320"/>
            <a:ext cx="4691364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283464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700" b="1">
                <a:solidFill>
                  <a:srgbClr val="3667A5"/>
                </a:solidFill>
                <a:latin typeface="Aptos"/>
              </a:defRPr>
            </a:pPr>
            <a:r>
              <a:t>Load flow and capacity</a:t>
            </a:r>
          </a:p>
        </p:txBody>
      </p:sp>
      <p:pic>
        <p:nvPicPr>
          <p:cNvPr id="12" name="Picture 11" descr="eq_load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8" y="3246120"/>
            <a:ext cx="4996542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283464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700" b="1">
                <a:solidFill>
                  <a:srgbClr val="BC4646"/>
                </a:solidFill>
                <a:latin typeface="Aptos"/>
              </a:defRPr>
            </a:pPr>
            <a:r>
              <a:t>Battery range</a:t>
            </a:r>
          </a:p>
        </p:txBody>
      </p:sp>
      <p:pic>
        <p:nvPicPr>
          <p:cNvPr id="14" name="Picture 13" descr="eq_battery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416" y="3182112"/>
            <a:ext cx="3994207" cy="347472"/>
          </a:xfrm>
          <a:prstGeom prst="rect">
            <a:avLst/>
          </a:prstGeom>
        </p:spPr>
      </p:pic>
      <p:pic>
        <p:nvPicPr>
          <p:cNvPr id="15" name="Picture 14" descr="eq_battery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720" y="3584448"/>
            <a:ext cx="41796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600" b="1">
                <a:solidFill>
                  <a:srgbClr val="BC4646"/>
                </a:solidFill>
                <a:latin typeface="Aptos"/>
              </a:defRPr>
            </a:pPr>
            <a:r>
              <a:t>The x, f, and b variables model only small-GV customer routes. Large GVs are not allowed to visit demand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Paper Decomposition: Main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PAPER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918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343400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52728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008496"/>
                </a:solidFill>
                <a:latin typeface="Aptos"/>
              </a:defRPr>
            </a:pPr>
            <a:r>
              <a:t>Dantzig-Wolfe Reformulation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45920"/>
            <a:ext cx="3017520" cy="3749039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Replace arc-level routing and assignment details by feasible columns.</a:t>
            </a:r>
            <a:br/>
            <a:br/>
            <a:r>
              <a:t>The master problem selects columns that cover all customers exactly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43000"/>
            <a:ext cx="32918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143000"/>
            <a:ext cx="73152" cy="4343400"/>
          </a:xfrm>
          <a:prstGeom prst="rect">
            <a:avLst/>
          </a:prstGeom>
          <a:solidFill>
            <a:srgbClr val="E27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252728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E27C2D"/>
                </a:solidFill>
                <a:latin typeface="Aptos"/>
              </a:defRPr>
            </a:pPr>
            <a:r>
              <a:t>Pattern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645920"/>
            <a:ext cx="3017520" cy="3749039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A station pattern p is a feasible subset of customers assigned to one station l.</a:t>
            </a:r>
            <a:br/>
            <a:br/>
            <a:r>
              <a:t>It must satisfy coverage and station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43000"/>
            <a:ext cx="32918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73152" cy="4343400"/>
          </a:xfrm>
          <a:prstGeom prst="rect">
            <a:avLst/>
          </a:prstGeom>
          <a:solidFill>
            <a:srgbClr val="366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252728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500" b="1">
                <a:solidFill>
                  <a:srgbClr val="3667A5"/>
                </a:solidFill>
                <a:latin typeface="Aptos"/>
              </a:defRPr>
            </a:pPr>
            <a:r>
              <a:t>Route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645920"/>
            <a:ext cx="3017520" cy="3749039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250" b="0">
                <a:solidFill>
                  <a:srgbClr val="232A32"/>
                </a:solidFill>
                <a:latin typeface="Aptos"/>
              </a:defRPr>
            </a:pPr>
            <a:r>
              <a:t>A route r is a feasible elementary small-GV route starting and ending at the depot.</a:t>
            </a:r>
            <a:br/>
            <a:br/>
            <a:r>
              <a:t>It must satisfy load and battery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Master Problem (Set Partitioning)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PAPER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7" name="Picture 6" descr="eq_master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33" y="960120"/>
            <a:ext cx="9333253" cy="594360"/>
          </a:xfrm>
          <a:prstGeom prst="rect">
            <a:avLst/>
          </a:prstGeom>
        </p:spPr>
      </p:pic>
      <p:pic>
        <p:nvPicPr>
          <p:cNvPr id="8" name="Picture 7" descr="eq_master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29" y="1783080"/>
            <a:ext cx="8986660" cy="502920"/>
          </a:xfrm>
          <a:prstGeom prst="rect">
            <a:avLst/>
          </a:prstGeom>
        </p:spPr>
      </p:pic>
      <p:pic>
        <p:nvPicPr>
          <p:cNvPr id="9" name="Picture 8" descr="eq_master_station_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914" y="2514600"/>
            <a:ext cx="8169691" cy="457200"/>
          </a:xfrm>
          <a:prstGeom prst="rect">
            <a:avLst/>
          </a:prstGeom>
        </p:spPr>
      </p:pic>
      <p:pic>
        <p:nvPicPr>
          <p:cNvPr id="10" name="Picture 9" descr="eq_master_fl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383" y="3200400"/>
            <a:ext cx="8646753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617720"/>
            <a:ext cx="10515600" cy="109728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α_ip = 1 if customer i appears in station pattern p.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β_ir = 1 if customer i is visited by small-GV route r.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The master chooses a mutually consistent station-route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Feasible Pattern Columns and PSCSP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PAPER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5212080" cy="5486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800" b="1">
                <a:solidFill>
                  <a:srgbClr val="008496"/>
                </a:solidFill>
                <a:latin typeface="Aptos"/>
              </a:defRPr>
            </a:pPr>
            <a:r>
              <a:t>A feasible station pattern p for station 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120640" cy="173736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contains only customers inside the coverage radius;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respects the station accommodation capacity;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charges one handling cost term for each assigned demand unit.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05840"/>
            <a:ext cx="5074920" cy="5486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1800" b="1">
                <a:solidFill>
                  <a:srgbClr val="E27C2D"/>
                </a:solidFill>
                <a:latin typeface="Aptos"/>
              </a:defRPr>
            </a:pPr>
            <a:r>
              <a:t>Pricing subproblem PSCSP-l:</a:t>
            </a:r>
          </a:p>
        </p:txBody>
      </p:sp>
      <p:pic>
        <p:nvPicPr>
          <p:cNvPr id="10" name="Picture 9" descr="eq_pscsp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030" y="1572768"/>
            <a:ext cx="4220138" cy="411480"/>
          </a:xfrm>
          <a:prstGeom prst="rect">
            <a:avLst/>
          </a:prstGeom>
        </p:spPr>
      </p:pic>
      <p:pic>
        <p:nvPicPr>
          <p:cNvPr id="11" name="Picture 10" descr="eq_pscsp_co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169" y="2121408"/>
            <a:ext cx="4712141" cy="502920"/>
          </a:xfrm>
          <a:prstGeom prst="rect">
            <a:avLst/>
          </a:prstGeom>
        </p:spPr>
      </p:pic>
      <p:pic>
        <p:nvPicPr>
          <p:cNvPr id="12" name="Picture 11" descr="eq_pscsp_knaps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324" y="4069080"/>
            <a:ext cx="9780871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Feasible Route Columns and SPPBDRC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PAPER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5303520" cy="246888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A feasible route r starts at the depot, visits a subset of customers, and returns to the depot.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The route is elementary: no customer is repeated.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Total demand on the route is at most Q_e.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Total energy consumption is within battery range B.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The route cost is c_r = c_e + travel distance.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120640" cy="3200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700" b="1">
                <a:solidFill>
                  <a:srgbClr val="162A44"/>
                </a:solidFill>
                <a:latin typeface="Aptos"/>
              </a:defRPr>
            </a:pPr>
            <a:r>
              <a:t>Reduced arc costs:</a:t>
            </a:r>
          </a:p>
        </p:txBody>
      </p:sp>
      <p:pic>
        <p:nvPicPr>
          <p:cNvPr id="9" name="Picture 8" descr="eq_route_reduc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676" y="1600200"/>
            <a:ext cx="4235406" cy="411480"/>
          </a:xfrm>
          <a:prstGeom prst="rect">
            <a:avLst/>
          </a:prstGeom>
        </p:spPr>
      </p:pic>
      <p:pic>
        <p:nvPicPr>
          <p:cNvPr id="10" name="Picture 9" descr="eq_route_reduce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76" y="2057400"/>
            <a:ext cx="423540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2971800"/>
            <a:ext cx="5120640" cy="82296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800" b="1">
                <a:solidFill>
                  <a:srgbClr val="E27C2D"/>
                </a:solidFill>
                <a:latin typeface="Aptos"/>
              </a:defRPr>
            </a:pPr>
            <a:r>
              <a:t>Pricing: find a negative reduced-cost elementary shortest path with load and battery resources.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343400"/>
            <a:ext cx="5120640" cy="64008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800" b="1">
                <a:solidFill>
                  <a:srgbClr val="BC4646"/>
                </a:solidFill>
                <a:latin typeface="Aptos"/>
              </a:defRPr>
            </a:pPr>
            <a:r>
              <a:t>Known problem class: ESPPRC / resource-constrained shortest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Column Generation and Branching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PAPER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5303520" cy="438912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Start from a restricted master problem.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Solve the LP relaxation and read dual variables μ, τ, η.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Solve PSCSP and SPPBDRC pricing problems.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Add columns with negative reduced cost.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Repeat until no improving column exists.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Branch when the master solution is fractional.</a:t>
            </a:r>
          </a:p>
        </p:txBody>
      </p:sp>
      <p:pic>
        <p:nvPicPr>
          <p:cNvPr id="8" name="Picture 7" descr="cluster_corner_n12_p3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25088"/>
            <a:ext cx="5212080" cy="33506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486400"/>
            <a:ext cx="5029200" cy="36576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300" b="0">
                <a:solidFill>
                  <a:srgbClr val="5A646E"/>
                </a:solidFill>
                <a:latin typeface="Aptos"/>
              </a:defRPr>
            </a:pPr>
            <a:r>
              <a:t>The implemented benchmark completes route columns exactly for small instances and then solves the integer master.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Branch-and-Cut with Minimal Cover Inequalities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B&amp;C + MCI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eq_cover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72" y="987552"/>
            <a:ext cx="9494015" cy="548640"/>
          </a:xfrm>
          <a:prstGeom prst="rect">
            <a:avLst/>
          </a:prstGeom>
        </p:spPr>
      </p:pic>
      <p:pic>
        <p:nvPicPr>
          <p:cNvPr id="8" name="Picture 7" descr="eq_minimal_cover_d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159" y="1783080"/>
            <a:ext cx="9706641" cy="594360"/>
          </a:xfrm>
          <a:prstGeom prst="rect">
            <a:avLst/>
          </a:prstGeom>
        </p:spPr>
      </p:pic>
      <p:pic>
        <p:nvPicPr>
          <p:cNvPr id="9" name="Picture 8" descr="eq_mci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466" y="2852928"/>
            <a:ext cx="8065147" cy="685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160520"/>
            <a:ext cx="10149840" cy="123444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If v_l = 0, no assignment to station l is possible.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If v_l = 1, at most |C|-1 customers from an over-capacity cover can be assigned.</a:t>
            </a:r>
          </a:p>
          <a:p>
            <a:pPr>
              <a:spcAft>
                <a:spcPts val="7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The inequality is valid for all integer feasible solutions and can cut fractional node relaxations.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B&amp;C + MCI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B&amp;C + MCI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10789920" cy="484632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1. Build the compact MIP with exact preprocessing.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2. Enumerate minimal covers for each station-capacity constraint.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3. Run Gurobi Branch-and-Bound on the integer compact model.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4. At a fractional MIP node, evaluate each candidate cover:</a:t>
            </a:r>
          </a:p>
          <a:p>
            <a:pPr lvl="1">
              <a:spcAft>
                <a:spcPts val="300"/>
              </a:spcAft>
              <a:defRPr sz="1600">
                <a:solidFill>
                  <a:srgbClr val="232A32"/>
                </a:solidFill>
                <a:latin typeface="Aptos"/>
              </a:defRPr>
            </a:pPr>
            <a:r>
              <a:t>if sum z*_il &gt; (|C|-1)v*_l, add the user cut sum z_il &lt;= (|C|-1)v_l.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5. Continue branching and cutting until the global MIP gap is zero.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B&amp;C model is exact because MCI cuts are globally valid.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Why MCI Counts Differ Across Instances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B&amp;C + MCI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7" name="Picture 6" descr="mci_cut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1212"/>
            <a:ext cx="5669280" cy="27212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143000"/>
            <a:ext cx="4983480" cy="438912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Many MCIs appear when several customers are eligible for the same station and their combined demand exceeds Q_l.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Few or zero MCIs appear when station neighborhoods are small or only one/two customers are eligible.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A candidate MCI is added only if it is violated at a fractional node.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Therefore, candidate count depends on geometry and demand/capacity, while added-cut count depends on the LP relaxation path.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The clustered instance has many nearby customers around stations, so it generated 56 candidates and 24 active cuts.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Data Generation and Modeling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05840"/>
          <a:ext cx="11338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Instance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Demand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Ql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random_center_n06_p2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random_center_n08_p2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random_corner_n10_p3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cluster_corner_n12_p3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26.000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random_center_n14_p4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36.000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474720"/>
            <a:ext cx="10789920" cy="210312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Customer coordinates are generated with three spatial structures: central-random, corner-random, and corner-clustered.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Stations are placed near demand centers, then coverage is tightened: r_l = clip(0.14B, 12, 22).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The number of small GVs is explicitly capped: N_e = ceil(total demand / Q_e) + 1.</a:t>
            </a:r>
          </a:p>
          <a:p>
            <a:pPr>
              <a:spcAft>
                <a:spcPts val="700"/>
              </a:spcAft>
              <a:defRPr sz="1500">
                <a:solidFill>
                  <a:srgbClr val="232A32"/>
                </a:solidFill>
                <a:latin typeface="Aptos"/>
              </a:defRPr>
            </a:pPr>
            <a:r>
              <a:t>Large-GV station replenishment is represented through f_bar_l and the phi travel-saving factor.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Optimal Demand Split and Large-GV 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7" name="Picture 6" descr="demand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3041"/>
            <a:ext cx="5852160" cy="28090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234440"/>
          <a:ext cx="5257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"/>
                <a:gridCol w="876300"/>
                <a:gridCol w="876300"/>
                <a:gridCol w="876300"/>
                <a:gridCol w="876300"/>
                <a:gridCol w="8763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Instance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Fac.%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Small.%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LGV saving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cluster_corner_n12_p3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17.582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82.418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131.740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random_center_n06_p2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42.222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57.778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77.986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random_center_n08_p2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random_center_n14_p4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random_corner_n10_p3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22.222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77.778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158.631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29400" y="5577840"/>
            <a:ext cx="4846320" cy="32004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300" b="1">
                <a:solidFill>
                  <a:srgbClr val="2C8C5C"/>
                </a:solidFill>
                <a:latin typeface="Aptos"/>
              </a:defRPr>
            </a:pPr>
            <a:r>
              <a:t>The fleet cap is respected in all optimal solutions.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Objective Values: Two Exact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7" name="Picture 6" descr="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1601"/>
            <a:ext cx="5852160" cy="28090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325880"/>
          <a:ext cx="5257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5638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Instance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Paper B&amp;P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B&amp;C + MCI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|Diff|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cluster_corner_n12_p3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585.444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585.444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random_center_n06_p2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313.214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313.214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random_center_n08_p2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440.807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440.807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random_center_n14_p4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359.238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359.238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random_corner_n10_p3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644.648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644.648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29400" y="5166360"/>
            <a:ext cx="480060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500" b="1">
                <a:solidFill>
                  <a:srgbClr val="2C8C5C"/>
                </a:solidFill>
                <a:latin typeface="Aptos"/>
              </a:defRPr>
            </a:pPr>
            <a:r>
              <a:t>Both algorithms reach the same certified optimum on every instance.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Runtime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7" name="Picture 6" descr="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03196"/>
            <a:ext cx="6583680" cy="316016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371600"/>
          <a:ext cx="4480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Instance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B&amp;P sec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B&amp;C sec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cluster_corner_n12_p3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14.981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random_center_n06_p2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1.091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random_center_n08_p2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11.762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random_center_n14_p4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6.485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random_corner_n10_p3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31.009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5074920"/>
            <a:ext cx="4114800" cy="50292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300" b="1">
                <a:solidFill>
                  <a:srgbClr val="BC4646"/>
                </a:solidFill>
                <a:latin typeface="Aptos"/>
              </a:defRPr>
            </a:pPr>
            <a:r>
              <a:t>The paper decomposition is faster because it optimizes over feasible patterns/routes directly instead of branching on many arc variables.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Root LP Effect of MCI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0584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Instance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MCI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Raw gap %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MCI gap %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Improvement %</a:t>
                      </a:r>
                    </a:p>
                  </a:txBody>
                  <a:tcPr>
                    <a:solidFill>
                      <a:srgbClr val="16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cluster_corner_n12_p3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16.979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16.748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random_center_n06_p2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21.201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21.201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random_center_n08_p2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43.470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43.470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random_center_n14_p4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47.522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47.522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random_corner_n10_p3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26.760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26.760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232A32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251960"/>
            <a:ext cx="10515600" cy="141732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MCI improved the root LP bound only for the clustered instance.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This does not make MCI invalid; it means the violated cover structure was absent or inactive at the root in other instances.</a:t>
            </a:r>
          </a:p>
          <a:p>
            <a:pPr>
              <a:spcAft>
                <a:spcPts val="700"/>
              </a:spcAft>
              <a:defRPr sz="1700">
                <a:solidFill>
                  <a:srgbClr val="232A32"/>
                </a:solidFill>
                <a:latin typeface="Aptos"/>
              </a:defRPr>
            </a:pPr>
            <a:r>
              <a:t>MCI is more useful inside Branch-and-Cut when fractional node solutions violate station capacity-cover structure.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241280" cy="47548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2500" b="1">
                <a:solidFill>
                  <a:srgbClr val="162A44"/>
                </a:solidFill>
                <a:latin typeface="Aptos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301752"/>
            <a:ext cx="1691640" cy="2286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900" b="1">
                <a:solidFill>
                  <a:srgbClr val="00849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86384"/>
            <a:ext cx="11155680" cy="32004"/>
          </a:xfrm>
          <a:prstGeom prst="rect">
            <a:avLst/>
          </a:prstGeom>
          <a:solidFill>
            <a:srgbClr val="008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65836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l">
              <a:defRPr sz="800" b="0">
                <a:solidFill>
                  <a:srgbClr val="5A646E"/>
                </a:solidFill>
                <a:latin typeface="Aptos"/>
              </a:defRPr>
            </a:pPr>
            <a:r>
              <a:t>LRP-PS: Branch-and-Price vs Branch-and-Cut with MCI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640080" cy="201168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r">
              <a:defRPr sz="800" b="0">
                <a:solidFill>
                  <a:srgbClr val="5A646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4297680"/>
          </a:xfrm>
          <a:prstGeom prst="rect">
            <a:avLst/>
          </a:prstGeom>
          <a:noFill/>
        </p:spPr>
        <p:txBody>
          <a:bodyPr wrap="square" lIns="1016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corrected model keeps large GVs away from demand points; they only replenish opened facilities.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paper's Branch-and-Price is the best-performing exact method in these experiments.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Branch-and-Cut with MCI is exact and reaches the same optimal objectives, but it is slower on harder instances.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MCI activity is highly instance-dependent: many nearby customers plus tight station capacity create many covers.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Demand split, fleet cap compliance, and large-GV travel saving are explicitly reported for each instance.</a:t>
            </a:r>
          </a:p>
          <a:p>
            <a:pPr>
              <a:spcAft>
                <a:spcPts val="7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The code is prepared for GitHub publication with reproducible data generation, experiments, plots, and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23560"/>
            <a:ext cx="9875520" cy="457200"/>
          </a:xfrm>
          <a:prstGeom prst="rect">
            <a:avLst/>
          </a:prstGeom>
          <a:noFill/>
        </p:spPr>
        <p:txBody>
          <a:bodyPr wrap="square" lIns="50800" rIns="50800" tIns="25400">
            <a:spAutoFit/>
          </a:bodyPr>
          <a:lstStyle/>
          <a:p>
            <a:pPr algn="ctr">
              <a:defRPr sz="1700" b="1">
                <a:solidFill>
                  <a:srgbClr val="008496"/>
                </a:solidFill>
                <a:latin typeface="Aptos"/>
              </a:defRPr>
            </a:pPr>
            <a:r>
              <a:t>GitHub repository link: to be added after remote repository creation and push.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